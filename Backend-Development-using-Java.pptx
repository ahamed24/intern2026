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365" cy="6858000"/>
  <p:notesSz cx="6858000" cy="12191365"/>
  <p:embeddedFontLst>
    <p:embeddedFont>
      <p:font typeface="Mona Sans Light" pitchFamily="34" charset="0"/>
      <p:regular r:id="rId18"/>
    </p:embeddedFont>
    <p:embeddedFont>
      <p:font typeface="Mona Sans Light" pitchFamily="34" charset="-122"/>
      <p:regular r:id="rId19"/>
    </p:embeddedFont>
    <p:embeddedFont>
      <p:font typeface="Commissioner" pitchFamily="34" charset="0"/>
      <p:regular r:id="rId20"/>
    </p:embeddedFont>
    <p:embeddedFont>
      <p:font typeface="Commissioner" pitchFamily="34" charset="-122"/>
      <p:regular r:id="rId21"/>
    </p:embeddedFont>
    <p:embeddedFont>
      <p:font typeface="Reddit Mono Medium" panose="02000009000000000000" pitchFamily="34" charset="0"/>
      <p:regular r:id="rId22"/>
    </p:embeddedFont>
    <p:embeddedFont>
      <p:font typeface="Reddit Mono Medium" panose="02000009000000000000" pitchFamily="34" charset="-122"/>
      <p:regular r:id="rId23"/>
    </p:embeddedFont>
    <p:embeddedFont>
      <p:font typeface="Mona Sans Medium" pitchFamily="34" charset="0"/>
      <p:regular r:id="rId24"/>
    </p:embeddedFont>
    <p:embeddedFont>
      <p:font typeface="Mona Sans Medium" pitchFamily="34" charset="-122"/>
      <p:regular r:id="rId25"/>
    </p:embeddedFont>
    <p:embeddedFont>
      <p:font typeface="Consolas" panose="020B0609020204030204" pitchFamily="34" charset="0"/>
      <p:regular r:id="rId26"/>
      <p:bold r:id="rId27"/>
      <p:italic r:id="rId28"/>
      <p:boldItalic r:id="rId29"/>
    </p:embeddedFont>
    <p:embeddedFont>
      <p:font typeface="Consolas" panose="020B0609020204030204" pitchFamily="34" charset="-122"/>
      <p:regular r:id="rId30"/>
      <p:bold r:id="rId31"/>
      <p:italic r:id="rId32"/>
      <p:boldItalic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1714"/>
    <a:srgbClr val="1B16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font" Target="fonts/font20.fntdata"/><Relationship Id="rId36" Type="http://schemas.openxmlformats.org/officeDocument/2006/relationships/font" Target="fonts/font19.fntdata"/><Relationship Id="rId35" Type="http://schemas.openxmlformats.org/officeDocument/2006/relationships/font" Target="fonts/font18.fntdata"/><Relationship Id="rId34" Type="http://schemas.openxmlformats.org/officeDocument/2006/relationships/font" Target="fonts/font17.fntdata"/><Relationship Id="rId33" Type="http://schemas.openxmlformats.org/officeDocument/2006/relationships/font" Target="fonts/font16.fntdata"/><Relationship Id="rId32" Type="http://schemas.openxmlformats.org/officeDocument/2006/relationships/font" Target="fonts/font15.fntdata"/><Relationship Id="rId31" Type="http://schemas.openxmlformats.org/officeDocument/2006/relationships/font" Target="fonts/font14.fntdata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simple chat project was completed during the internship. It shows how a client talks to a Spring Boot server, which authenticates users and stores messages in a database. Testing confirmed the endpoints, login, and persistence work as intended.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2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07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783" y="1514793"/>
            <a:ext cx="7619809" cy="23773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6000" kern="100" spc="-120" dirty="0">
                <a:solidFill>
                  <a:srgbClr val="FFFFFF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Backend Development using Java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85783" y="4015522"/>
            <a:ext cx="8229394" cy="349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Presented by: Ahamed Noor Z · Roll No: 810023205104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783" y="4536976"/>
            <a:ext cx="7619809" cy="9727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1400"/>
              </a:spcAft>
              <a:buNone/>
            </a:pPr>
            <a:r>
              <a:rPr lang="en-US" sz="1150" kern="100" spc="23" dirty="0">
                <a:solidFill>
                  <a:srgbClr val="FFFFFF"/>
                </a:solidFill>
                <a:latin typeface="Reddit Mono Medium" panose="02000009000000000000" pitchFamily="34" charset="0"/>
                <a:ea typeface="Reddit Mono Medium" panose="02000009000000000000" pitchFamily="34" charset="-122"/>
                <a:cs typeface="Reddit Mono Medium" panose="02000009000000000000" pitchFamily="34" charset="0"/>
              </a:rPr>
              <a:t>Department of Information Technology · University College of Engineering, BIT Campus, Anna University, Trichy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FFFFFF"/>
                </a:solidFill>
                <a:latin typeface="Reddit Mono Medium" panose="02000009000000000000" pitchFamily="34" charset="0"/>
                <a:ea typeface="Reddit Mono Medium" panose="02000009000000000000" pitchFamily="34" charset="-122"/>
                <a:cs typeface="Reddit Mono Medium" panose="02000009000000000000" pitchFamily="34" charset="0"/>
              </a:rPr>
              <a:t>Internship at: Fantasy Solution, Trichy · Course: CS3711 – Summer Internship · Academic year 2026–2027</a:t>
            </a:r>
            <a:endParaRPr lang="en-US" sz="1150" dirty="0"/>
          </a:p>
        </p:txBody>
      </p:sp>
      <p:sp>
        <p:nvSpPr>
          <p:cNvPr id="5" name="Rectangle 4"/>
          <p:cNvSpPr/>
          <p:nvPr/>
        </p:nvSpPr>
        <p:spPr>
          <a:xfrm>
            <a:off x="10393680" y="6409690"/>
            <a:ext cx="1758950" cy="4057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0472420" y="6459220"/>
            <a:ext cx="19780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400"/>
              <a:t>By: Ah</a:t>
            </a:r>
            <a:r>
              <a:rPr lang="en-IN" altLang="en-US" sz="1400"/>
              <a:t>amed Noor Z</a:t>
            </a:r>
            <a:endParaRPr lang="en-IN" alt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2692333" cy="4381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FANTASY SOLUTION AND INTERNSHIP OBJECTIVES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1182454"/>
            <a:ext cx="2692333" cy="19748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Fantasy Solution and internship objectives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275" y="609600"/>
            <a:ext cx="507987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78275" y="1326356"/>
            <a:ext cx="2692333" cy="9048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Fantasy Solution, Trichy: IT solution and service provider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778" y="609600"/>
            <a:ext cx="507987" cy="508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89778" y="1326356"/>
            <a:ext cx="2692333" cy="6032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Software development, web design, and training</a:t>
            </a:r>
            <a:endParaRPr lang="en-US" sz="1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275" y="3425825"/>
            <a:ext cx="507987" cy="508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78275" y="4142581"/>
            <a:ext cx="2692333" cy="6032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Complete the backend development lifecycle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9778" y="3425825"/>
            <a:ext cx="507987" cy="508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889778" y="4142581"/>
            <a:ext cx="2692333" cy="15081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Build capability in Core Java, OOP, SQL, JDBC, Servlets, Spring Boot, REST APIs, security, and testing</a:t>
            </a:r>
            <a:endParaRPr lang="en-US" sz="1900" dirty="0"/>
          </a:p>
        </p:txBody>
      </p:sp>
      <p:sp>
        <p:nvSpPr>
          <p:cNvPr id="12" name="Shape 6"/>
          <p:cNvSpPr/>
          <p:nvPr/>
        </p:nvSpPr>
        <p:spPr>
          <a:xfrm>
            <a:off x="8273843" y="0"/>
            <a:ext cx="12700" cy="2816225"/>
          </a:xfrm>
          <a:prstGeom prst="rect">
            <a:avLst/>
          </a:prstGeom>
          <a:solidFill>
            <a:srgbClr val="2F3A42"/>
          </a:solidFill>
        </p:spPr>
      </p:sp>
      <p:sp>
        <p:nvSpPr>
          <p:cNvPr id="13" name="Shape 7"/>
          <p:cNvSpPr/>
          <p:nvPr/>
        </p:nvSpPr>
        <p:spPr>
          <a:xfrm>
            <a:off x="4368691" y="2809875"/>
            <a:ext cx="3911502" cy="12700"/>
          </a:xfrm>
          <a:prstGeom prst="rect">
            <a:avLst/>
          </a:prstGeom>
          <a:solidFill>
            <a:srgbClr val="2F3A42"/>
          </a:solidFill>
        </p:spPr>
      </p:sp>
      <p:sp>
        <p:nvSpPr>
          <p:cNvPr id="14" name="Shape 8"/>
          <p:cNvSpPr/>
          <p:nvPr/>
        </p:nvSpPr>
        <p:spPr>
          <a:xfrm>
            <a:off x="8273843" y="2816225"/>
            <a:ext cx="12700" cy="3419475"/>
          </a:xfrm>
          <a:prstGeom prst="rect">
            <a:avLst/>
          </a:prstGeom>
          <a:solidFill>
            <a:srgbClr val="2F3A42"/>
          </a:solidFill>
        </p:spPr>
      </p:sp>
      <p:sp>
        <p:nvSpPr>
          <p:cNvPr id="15" name="Shape 9"/>
          <p:cNvSpPr/>
          <p:nvPr/>
        </p:nvSpPr>
        <p:spPr>
          <a:xfrm>
            <a:off x="8280193" y="2809875"/>
            <a:ext cx="3911502" cy="12700"/>
          </a:xfrm>
          <a:prstGeom prst="rect">
            <a:avLst/>
          </a:prstGeom>
          <a:solidFill>
            <a:srgbClr val="2F3A42"/>
          </a:solidFill>
        </p:spPr>
      </p:sp>
      <p:sp>
        <p:nvSpPr>
          <p:cNvPr id="17" name="Rectangle 16"/>
          <p:cNvSpPr/>
          <p:nvPr/>
        </p:nvSpPr>
        <p:spPr>
          <a:xfrm>
            <a:off x="10336530" y="6555740"/>
            <a:ext cx="1798955" cy="2463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1754"/>
            <a:ext cx="10972526" cy="9874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Backend development needs stronger engineering foundations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812290"/>
            <a:ext cx="11582110" cy="2945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Scope: server-side development with Java and Spring Boot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78955"/>
            <a:ext cx="40639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830612"/>
            <a:ext cx="5257668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Tightly coupled code reduces maintainability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2" y="2278955"/>
            <a:ext cx="406390" cy="406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24442" y="2830612"/>
            <a:ext cx="5257668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Repetitive raw JDBC increases effort and errors</a:t>
            </a:r>
            <a:endParaRPr lang="en-US" sz="1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564830"/>
            <a:ext cx="406390" cy="406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9585" y="4116487"/>
            <a:ext cx="5257668" cy="6032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Poorly designed REST APIs and weak security reduce reliability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3564830"/>
            <a:ext cx="406390" cy="4064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24442" y="4116487"/>
            <a:ext cx="5257668" cy="6032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No automated testing and poor logging make issues harder to detect</a:t>
            </a:r>
            <a:endParaRPr lang="en-US" sz="1900" dirty="0"/>
          </a:p>
        </p:txBody>
      </p:sp>
      <p:sp>
        <p:nvSpPr>
          <p:cNvPr id="12" name="Shape 6"/>
          <p:cNvSpPr/>
          <p:nvPr/>
        </p:nvSpPr>
        <p:spPr>
          <a:xfrm>
            <a:off x="6089498" y="2278955"/>
            <a:ext cx="12700" cy="1057275"/>
          </a:xfrm>
          <a:prstGeom prst="rect">
            <a:avLst/>
          </a:prstGeom>
          <a:solidFill>
            <a:srgbClr val="2F3A42"/>
          </a:solidFill>
        </p:spPr>
      </p:sp>
      <p:sp>
        <p:nvSpPr>
          <p:cNvPr id="13" name="Shape 7"/>
          <p:cNvSpPr/>
          <p:nvPr/>
        </p:nvSpPr>
        <p:spPr>
          <a:xfrm>
            <a:off x="609585" y="3329880"/>
            <a:ext cx="5486263" cy="12700"/>
          </a:xfrm>
          <a:prstGeom prst="rect">
            <a:avLst/>
          </a:prstGeom>
          <a:solidFill>
            <a:srgbClr val="2F3A42"/>
          </a:solidFill>
        </p:spPr>
      </p:sp>
      <p:sp>
        <p:nvSpPr>
          <p:cNvPr id="14" name="Shape 8"/>
          <p:cNvSpPr/>
          <p:nvPr/>
        </p:nvSpPr>
        <p:spPr>
          <a:xfrm>
            <a:off x="6089498" y="3336230"/>
            <a:ext cx="12700" cy="1358900"/>
          </a:xfrm>
          <a:prstGeom prst="rect">
            <a:avLst/>
          </a:prstGeom>
          <a:solidFill>
            <a:srgbClr val="2F3A42"/>
          </a:solidFill>
        </p:spPr>
      </p:sp>
      <p:sp>
        <p:nvSpPr>
          <p:cNvPr id="15" name="Shape 9"/>
          <p:cNvSpPr/>
          <p:nvPr/>
        </p:nvSpPr>
        <p:spPr>
          <a:xfrm>
            <a:off x="6095848" y="3329880"/>
            <a:ext cx="5486263" cy="12700"/>
          </a:xfrm>
          <a:prstGeom prst="rect">
            <a:avLst/>
          </a:prstGeom>
          <a:solidFill>
            <a:srgbClr val="2F3A42"/>
          </a:solidFill>
        </p:spPr>
      </p:sp>
      <p:sp>
        <p:nvSpPr>
          <p:cNvPr id="17" name="Rectangle 16"/>
          <p:cNvSpPr/>
          <p:nvPr/>
        </p:nvSpPr>
        <p:spPr>
          <a:xfrm>
            <a:off x="10796905" y="6534785"/>
            <a:ext cx="1386840" cy="3016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LEARNING PROGRESSED FROM JAVA FOUNDATIONS TO DEPLOYMENT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9874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Learning progressed from Java foundations to deployment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028825"/>
            <a:ext cx="838179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anose="02000009000000000000" pitchFamily="34" charset="0"/>
                <a:ea typeface="Reddit Mono Medium" panose="02000009000000000000" pitchFamily="34" charset="-122"/>
                <a:cs typeface="Reddit Mono Medium" panose="02000009000000000000" pitchFamily="34" charset="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313285"/>
            <a:ext cx="2514537" cy="19050"/>
          </a:xfrm>
          <a:prstGeom prst="rect">
            <a:avLst/>
          </a:prstGeom>
          <a:solidFill>
            <a:srgbClr val="6FCFBF">
              <a:alpha val="55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609585" y="2478782"/>
            <a:ext cx="2514537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Core Java and OOP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81310" y="2028825"/>
            <a:ext cx="838179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anose="02000009000000000000" pitchFamily="34" charset="0"/>
                <a:ea typeface="Reddit Mono Medium" panose="02000009000000000000" pitchFamily="34" charset="-122"/>
                <a:cs typeface="Reddit Mono Medium" panose="02000009000000000000" pitchFamily="34" charset="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81310" y="2313285"/>
            <a:ext cx="2285943" cy="19050"/>
          </a:xfrm>
          <a:prstGeom prst="rect">
            <a:avLst/>
          </a:prstGeom>
          <a:solidFill>
            <a:srgbClr val="6FCFBF">
              <a:alpha val="55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581310" y="2478782"/>
            <a:ext cx="2285943" cy="6032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Collections and Streams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324442" y="2028825"/>
            <a:ext cx="838179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anose="02000009000000000000" pitchFamily="34" charset="0"/>
                <a:ea typeface="Reddit Mono Medium" panose="02000009000000000000" pitchFamily="34" charset="-122"/>
                <a:cs typeface="Reddit Mono Medium" panose="02000009000000000000" pitchFamily="34" charset="0"/>
              </a:rPr>
              <a:t>03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24442" y="2313285"/>
            <a:ext cx="2285943" cy="19050"/>
          </a:xfrm>
          <a:prstGeom prst="rect">
            <a:avLst/>
          </a:prstGeom>
          <a:solidFill>
            <a:srgbClr val="6FCFBF">
              <a:alpha val="55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324442" y="2478782"/>
            <a:ext cx="2285943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SQL and JDBC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067573" y="2028825"/>
            <a:ext cx="838179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anose="02000009000000000000" pitchFamily="34" charset="0"/>
                <a:ea typeface="Reddit Mono Medium" panose="02000009000000000000" pitchFamily="34" charset="-122"/>
                <a:cs typeface="Reddit Mono Medium" panose="02000009000000000000" pitchFamily="34" charset="0"/>
              </a:rPr>
              <a:t>04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67573" y="2313285"/>
            <a:ext cx="2514537" cy="19050"/>
          </a:xfrm>
          <a:prstGeom prst="rect">
            <a:avLst/>
          </a:prstGeom>
          <a:solidFill>
            <a:srgbClr val="6FCFBF">
              <a:alpha val="55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9067573" y="2478782"/>
            <a:ext cx="2514537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Servlets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09585" y="4367213"/>
            <a:ext cx="838179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anose="02000009000000000000" pitchFamily="34" charset="0"/>
                <a:ea typeface="Reddit Mono Medium" panose="02000009000000000000" pitchFamily="34" charset="-122"/>
                <a:cs typeface="Reddit Mono Medium" panose="02000009000000000000" pitchFamily="34" charset="0"/>
              </a:rPr>
              <a:t>05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585" y="4651673"/>
            <a:ext cx="2514537" cy="19050"/>
          </a:xfrm>
          <a:prstGeom prst="rect">
            <a:avLst/>
          </a:prstGeom>
          <a:solidFill>
            <a:srgbClr val="6FCFBF">
              <a:alpha val="55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609585" y="4817169"/>
            <a:ext cx="2514537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Spring Boot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581310" y="4367213"/>
            <a:ext cx="838179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anose="02000009000000000000" pitchFamily="34" charset="0"/>
                <a:ea typeface="Reddit Mono Medium" panose="02000009000000000000" pitchFamily="34" charset="-122"/>
                <a:cs typeface="Reddit Mono Medium" panose="02000009000000000000" pitchFamily="34" charset="0"/>
              </a:rPr>
              <a:t>06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81310" y="4651673"/>
            <a:ext cx="2285943" cy="19050"/>
          </a:xfrm>
          <a:prstGeom prst="rect">
            <a:avLst/>
          </a:prstGeom>
          <a:solidFill>
            <a:srgbClr val="6FCFBF">
              <a:alpha val="55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3581310" y="4817169"/>
            <a:ext cx="2285943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REST and JPA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324442" y="4367213"/>
            <a:ext cx="838179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anose="02000009000000000000" pitchFamily="34" charset="0"/>
                <a:ea typeface="Reddit Mono Medium" panose="02000009000000000000" pitchFamily="34" charset="-122"/>
                <a:cs typeface="Reddit Mono Medium" panose="02000009000000000000" pitchFamily="34" charset="0"/>
              </a:rPr>
              <a:t>07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24442" y="4651673"/>
            <a:ext cx="2285943" cy="19050"/>
          </a:xfrm>
          <a:prstGeom prst="rect">
            <a:avLst/>
          </a:prstGeom>
          <a:solidFill>
            <a:srgbClr val="6FCFBF">
              <a:alpha val="55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6324442" y="4817169"/>
            <a:ext cx="2285943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Security and Testing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067573" y="4367213"/>
            <a:ext cx="838179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FCFBF"/>
                </a:solidFill>
                <a:latin typeface="Reddit Mono Medium" panose="02000009000000000000" pitchFamily="34" charset="0"/>
                <a:ea typeface="Reddit Mono Medium" panose="02000009000000000000" pitchFamily="34" charset="-122"/>
                <a:cs typeface="Reddit Mono Medium" panose="02000009000000000000" pitchFamily="34" charset="0"/>
              </a:rPr>
              <a:t>08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67573" y="4651673"/>
            <a:ext cx="2514537" cy="19050"/>
          </a:xfrm>
          <a:prstGeom prst="rect">
            <a:avLst/>
          </a:prstGeom>
          <a:solidFill>
            <a:srgbClr val="6FCFBF">
              <a:alpha val="55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9067573" y="4817169"/>
            <a:ext cx="2514537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Deployment</a:t>
            </a:r>
            <a:endParaRPr lang="en-US" sz="1900" dirty="0"/>
          </a:p>
        </p:txBody>
      </p:sp>
      <p:sp>
        <p:nvSpPr>
          <p:cNvPr id="28" name="Rectangle 27"/>
          <p:cNvSpPr/>
          <p:nvPr/>
        </p:nvSpPr>
        <p:spPr>
          <a:xfrm>
            <a:off x="11085195" y="6541135"/>
            <a:ext cx="1057275" cy="267970"/>
          </a:xfrm>
          <a:prstGeom prst="rect">
            <a:avLst/>
          </a:prstGeom>
          <a:solidFill>
            <a:srgbClr val="1D171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DEVELOPMENT ENVIRONMENT AND TOOLS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9874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System requirements supported the full backend workflow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09585" y="2028825"/>
          <a:ext cx="10972526" cy="3926092"/>
        </p:xfrm>
        <a:graphic>
          <a:graphicData uri="http://schemas.openxmlformats.org/drawingml/2006/table">
            <a:tbl>
              <a:tblPr/>
              <a:tblGrid>
                <a:gridCol w="3291698"/>
                <a:gridCol w="7680828"/>
              </a:tblGrid>
              <a:tr h="358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CEAE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Category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CEAE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Requirement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Operating system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Windows 10/11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Memory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4 GB RAM; 8 GB recommended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IDE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IntelliJ IDEA / Eclipse / VS Code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Language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Java (JDK 17) and SQL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Frameworks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Servlets/JSP, Spring, Spring Boot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ORM / persistence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JDBC, Hibernate, Spring Data JPA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Database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MySQL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Testing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Postman, JUnit 5, Mockito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Build / server / deployment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Maven, Tomcat, Docker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3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Version control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Git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26997" marR="126997" marT="25399" marB="25399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10337800" y="6562725"/>
            <a:ext cx="1798955" cy="27368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Three-tier architecture separated responsibilities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535113"/>
            <a:ext cx="2590735" cy="1501080"/>
          </a:xfrm>
          <a:prstGeom prst="rect">
            <a:avLst/>
          </a:prstGeom>
          <a:solidFill>
            <a:srgbClr val="11131A"/>
          </a:solidFill>
        </p:spPr>
      </p:sp>
      <p:sp>
        <p:nvSpPr>
          <p:cNvPr id="5" name="Text 3"/>
          <p:cNvSpPr/>
          <p:nvPr/>
        </p:nvSpPr>
        <p:spPr>
          <a:xfrm>
            <a:off x="838179" y="2008584"/>
            <a:ext cx="2133547" cy="6032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Client: browser or Postman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505112" y="1535113"/>
            <a:ext cx="5181470" cy="1501080"/>
          </a:xfrm>
          <a:prstGeom prst="rect">
            <a:avLst/>
          </a:prstGeom>
          <a:solidFill>
            <a:srgbClr val="6A2F5C"/>
          </a:solidFill>
        </p:spPr>
      </p:sp>
      <p:sp>
        <p:nvSpPr>
          <p:cNvPr id="7" name="Text 5"/>
          <p:cNvSpPr/>
          <p:nvPr/>
        </p:nvSpPr>
        <p:spPr>
          <a:xfrm>
            <a:off x="3733707" y="1788319"/>
            <a:ext cx="4724282" cy="6032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Server: Java Spring Boot with Controller, Service, and Repository layers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733707" y="2525078"/>
            <a:ext cx="1473163" cy="2945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Controller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59266" y="2525078"/>
            <a:ext cx="1473163" cy="2945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Service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84825" y="2525078"/>
            <a:ext cx="1473163" cy="2945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Repository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91375" y="1535113"/>
            <a:ext cx="2590735" cy="1501080"/>
          </a:xfrm>
          <a:prstGeom prst="rect">
            <a:avLst/>
          </a:prstGeom>
          <a:solidFill>
            <a:srgbClr val="11131A"/>
          </a:solidFill>
        </p:spPr>
      </p:sp>
      <p:sp>
        <p:nvSpPr>
          <p:cNvPr id="12" name="Text 10"/>
          <p:cNvSpPr/>
          <p:nvPr/>
        </p:nvSpPr>
        <p:spPr>
          <a:xfrm>
            <a:off x="9219969" y="2159397"/>
            <a:ext cx="2133547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Database: MySQL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09585" y="3191689"/>
            <a:ext cx="10972526" cy="3942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23" dirty="0">
                <a:solidFill>
                  <a:srgbClr val="969CA8"/>
                </a:solidFill>
                <a:latin typeface="Reddit Mono Medium" panose="02000009000000000000" pitchFamily="34" charset="0"/>
                <a:ea typeface="Reddit Mono Medium" panose="02000009000000000000" pitchFamily="34" charset="-122"/>
                <a:cs typeface="Reddit Mono Medium" panose="02000009000000000000" pitchFamily="34" charset="0"/>
              </a:rPr>
              <a:t>Request flow: client sends request → controller validates and routes → service applies business logic → repository reads or writes MySQL → response returns to client</a:t>
            </a:r>
            <a:endParaRPr lang="en-US" sz="1150" dirty="0"/>
          </a:p>
        </p:txBody>
      </p:sp>
      <p:sp>
        <p:nvSpPr>
          <p:cNvPr id="17" name="Rectangle 16"/>
          <p:cNvSpPr/>
          <p:nvPr/>
        </p:nvSpPr>
        <p:spPr>
          <a:xfrm>
            <a:off x="10831195" y="6507480"/>
            <a:ext cx="1310005" cy="3016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077244"/>
            <a:ext cx="11582110" cy="146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FOUR-PHASE TIMELINE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2337361"/>
            <a:ext cx="10972526" cy="4937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Thirty days built the stack in four phases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982119"/>
            <a:ext cx="165096" cy="165100"/>
          </a:xfrm>
          <a:prstGeom prst="ellipse">
            <a:avLst/>
          </a:prstGeom>
          <a:solidFill>
            <a:srgbClr val="6FCFBF"/>
          </a:solidFill>
          <a:ln w="31749">
            <a:solidFill>
              <a:srgbClr val="6FCFBF">
                <a:alpha val="30000"/>
              </a:srgbClr>
            </a:solidFill>
            <a:prstDash val="solid"/>
          </a:ln>
          <a:effectLst>
            <a:outerShdw blurRad="176530" dist="127" dir="16200000" algn="bl" rotWithShape="0">
              <a:srgbClr val="6FCFBF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585" y="3228578"/>
            <a:ext cx="2628834" cy="12601"/>
          </a:xfrm>
          <a:prstGeom prst="rect">
            <a:avLst/>
          </a:prstGeom>
          <a:solidFill>
            <a:srgbClr val="36625D"/>
          </a:solidFill>
        </p:spPr>
      </p:sp>
      <p:sp>
        <p:nvSpPr>
          <p:cNvPr id="6" name="Text 4"/>
          <p:cNvSpPr/>
          <p:nvPr/>
        </p:nvSpPr>
        <p:spPr>
          <a:xfrm>
            <a:off x="609585" y="3494484"/>
            <a:ext cx="2628834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Days 1–9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3929618"/>
            <a:ext cx="2628834" cy="5891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Java core, OOP, Collections, Maven, Git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90815" y="2982119"/>
            <a:ext cx="165096" cy="165100"/>
          </a:xfrm>
          <a:prstGeom prst="ellipse">
            <a:avLst/>
          </a:prstGeom>
          <a:solidFill>
            <a:srgbClr val="6FCFBF"/>
          </a:solidFill>
          <a:ln w="31749">
            <a:solidFill>
              <a:srgbClr val="6FCFBF">
                <a:alpha val="30000"/>
              </a:srgbClr>
            </a:solidFill>
            <a:prstDash val="solid"/>
          </a:ln>
          <a:effectLst>
            <a:outerShdw blurRad="176530" dist="127" dir="16200000" algn="bl" rotWithShape="0">
              <a:srgbClr val="6FCFBF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90815" y="3228578"/>
            <a:ext cx="2628834" cy="12601"/>
          </a:xfrm>
          <a:prstGeom prst="rect">
            <a:avLst/>
          </a:prstGeom>
          <a:solidFill>
            <a:srgbClr val="36625D"/>
          </a:solidFill>
        </p:spPr>
      </p:sp>
      <p:sp>
        <p:nvSpPr>
          <p:cNvPr id="10" name="Text 8"/>
          <p:cNvSpPr/>
          <p:nvPr/>
        </p:nvSpPr>
        <p:spPr>
          <a:xfrm>
            <a:off x="3390815" y="3494484"/>
            <a:ext cx="2628834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Days 10–16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390815" y="3929618"/>
            <a:ext cx="2628834" cy="5891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SQL, JDBC, DAO, HTTP, Servlets, Sessions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046" y="2982119"/>
            <a:ext cx="165096" cy="165100"/>
          </a:xfrm>
          <a:prstGeom prst="ellipse">
            <a:avLst/>
          </a:prstGeom>
          <a:solidFill>
            <a:srgbClr val="6FCFBF"/>
          </a:solidFill>
          <a:ln w="31749">
            <a:solidFill>
              <a:srgbClr val="6FCFBF">
                <a:alpha val="30000"/>
              </a:srgbClr>
            </a:solidFill>
            <a:prstDash val="solid"/>
          </a:ln>
          <a:effectLst>
            <a:outerShdw blurRad="176530" dist="127" dir="16200000" algn="bl" rotWithShape="0">
              <a:srgbClr val="6FCFBF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046" y="3228578"/>
            <a:ext cx="2628834" cy="12601"/>
          </a:xfrm>
          <a:prstGeom prst="rect">
            <a:avLst/>
          </a:prstGeom>
          <a:solidFill>
            <a:srgbClr val="36625D"/>
          </a:solidFill>
        </p:spPr>
      </p:sp>
      <p:sp>
        <p:nvSpPr>
          <p:cNvPr id="14" name="Text 12"/>
          <p:cNvSpPr/>
          <p:nvPr/>
        </p:nvSpPr>
        <p:spPr>
          <a:xfrm>
            <a:off x="6172046" y="3494484"/>
            <a:ext cx="2628834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Days 17–24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172046" y="3929618"/>
            <a:ext cx="2628834" cy="8837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Spring, Spring Boot, REST, JPA/Hibernate, DTOs, exception handling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53276" y="2982119"/>
            <a:ext cx="165096" cy="165100"/>
          </a:xfrm>
          <a:prstGeom prst="ellipse">
            <a:avLst/>
          </a:prstGeom>
          <a:solidFill>
            <a:srgbClr val="E8A657"/>
          </a:solidFill>
          <a:ln w="31749">
            <a:solidFill>
              <a:srgbClr val="E8A657">
                <a:alpha val="35000"/>
              </a:srgbClr>
            </a:solidFill>
            <a:prstDash val="solid"/>
          </a:ln>
          <a:effectLst>
            <a:outerShdw blurRad="176530" dist="127" dir="16200000" algn="bl" rotWithShape="0">
              <a:srgbClr val="E8A657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53276" y="3228578"/>
            <a:ext cx="2628834" cy="12601"/>
          </a:xfrm>
          <a:prstGeom prst="rect">
            <a:avLst/>
          </a:prstGeom>
          <a:solidFill>
            <a:srgbClr val="36625D"/>
          </a:solidFill>
        </p:spPr>
      </p:sp>
      <p:sp>
        <p:nvSpPr>
          <p:cNvPr id="18" name="Text 16"/>
          <p:cNvSpPr/>
          <p:nvPr/>
        </p:nvSpPr>
        <p:spPr>
          <a:xfrm>
            <a:off x="8953276" y="3494484"/>
            <a:ext cx="2628834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CEAE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Days 25–30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953276" y="3929618"/>
            <a:ext cx="2628834" cy="8837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Spring Security, JWT, testing, Swagger, deployment, mini project</a:t>
            </a:r>
            <a:endParaRPr lang="en-US" sz="1600" dirty="0"/>
          </a:p>
        </p:txBody>
      </p:sp>
      <p:sp>
        <p:nvSpPr>
          <p:cNvPr id="20" name="Rectangle 19"/>
          <p:cNvSpPr/>
          <p:nvPr/>
        </p:nvSpPr>
        <p:spPr>
          <a:xfrm>
            <a:off x="11094720" y="6519545"/>
            <a:ext cx="1096645" cy="302260"/>
          </a:xfrm>
          <a:prstGeom prst="rect">
            <a:avLst/>
          </a:prstGeom>
          <a:solidFill>
            <a:srgbClr val="1B161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7213420" cy="146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KEY WORK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6603835" cy="9874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Key work connected persistence, APIs, security, and quality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28845"/>
            <a:ext cx="40639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9170" y="2040890"/>
            <a:ext cx="2463738" cy="8837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JDBC with PreparedStatement and transactions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96" y="2028845"/>
            <a:ext cx="406390" cy="406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49681" y="2040890"/>
            <a:ext cx="2463738" cy="5891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DAO and layered architecture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369786"/>
            <a:ext cx="406390" cy="406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19170" y="3381831"/>
            <a:ext cx="2692333" cy="2945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Servlet login module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096" y="3369786"/>
            <a:ext cx="406390" cy="4064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49681" y="3381831"/>
            <a:ext cx="2463738" cy="8837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Spring Boot REST CRUD API and JPA entity relationships</a:t>
            </a:r>
            <a:endParaRPr lang="en-US" sz="16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710728"/>
            <a:ext cx="406390" cy="4064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19170" y="4722773"/>
            <a:ext cx="5994250" cy="5891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JWT-secured endpoints, JUnit/Mockito tests, and Swagger documentation</a:t>
            </a: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8280193" y="0"/>
            <a:ext cx="3911502" cy="6858000"/>
          </a:xfrm>
          <a:prstGeom prst="rect">
            <a:avLst/>
          </a:prstGeom>
          <a:solidFill>
            <a:srgbClr val="11131A"/>
          </a:solidFill>
        </p:spPr>
      </p:sp>
      <p:sp>
        <p:nvSpPr>
          <p:cNvPr id="15" name="Text 8"/>
          <p:cNvSpPr/>
          <p:nvPr/>
        </p:nvSpPr>
        <p:spPr>
          <a:xfrm>
            <a:off x="8889778" y="2132211"/>
            <a:ext cx="3301917" cy="1460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BCC0C9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SAMPLE CONTROLLER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8889778" y="2486223"/>
            <a:ext cx="2692333" cy="2031603"/>
          </a:xfrm>
          <a:prstGeom prst="roundRect">
            <a:avLst>
              <a:gd name="adj" fmla="val 563"/>
            </a:avLst>
          </a:prstGeom>
          <a:solidFill>
            <a:srgbClr val="11131A"/>
          </a:solidFill>
        </p:spPr>
      </p:sp>
      <p:sp>
        <p:nvSpPr>
          <p:cNvPr id="17" name="Text 10"/>
          <p:cNvSpPr/>
          <p:nvPr/>
        </p:nvSpPr>
        <p:spPr>
          <a:xfrm>
            <a:off x="9133552" y="2689423"/>
            <a:ext cx="2204784" cy="16252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0"/>
              </a:rPr>
              <a:t>@RestController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0"/>
              </a:rPr>
              <a:t>@GetMapping("/employees")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0"/>
              </a:rPr>
              <a:t>public List&lt;Employee&gt; getAll()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3905152" y="2028825"/>
            <a:ext cx="12700" cy="1112341"/>
          </a:xfrm>
          <a:prstGeom prst="rect">
            <a:avLst/>
          </a:prstGeom>
          <a:solidFill>
            <a:srgbClr val="2F3A42"/>
          </a:solidFill>
        </p:spPr>
      </p:sp>
      <p:sp>
        <p:nvSpPr>
          <p:cNvPr id="19" name="Shape 12"/>
          <p:cNvSpPr/>
          <p:nvPr/>
        </p:nvSpPr>
        <p:spPr>
          <a:xfrm>
            <a:off x="609585" y="3134816"/>
            <a:ext cx="3301917" cy="12700"/>
          </a:xfrm>
          <a:prstGeom prst="rect">
            <a:avLst/>
          </a:prstGeom>
          <a:solidFill>
            <a:srgbClr val="2F3A42"/>
          </a:solidFill>
        </p:spPr>
      </p:sp>
      <p:sp>
        <p:nvSpPr>
          <p:cNvPr id="20" name="Shape 13"/>
          <p:cNvSpPr/>
          <p:nvPr/>
        </p:nvSpPr>
        <p:spPr>
          <a:xfrm>
            <a:off x="3905152" y="3141166"/>
            <a:ext cx="12700" cy="1340941"/>
          </a:xfrm>
          <a:prstGeom prst="rect">
            <a:avLst/>
          </a:prstGeom>
          <a:solidFill>
            <a:srgbClr val="2F3A42"/>
          </a:solidFill>
        </p:spPr>
      </p:sp>
      <p:sp>
        <p:nvSpPr>
          <p:cNvPr id="21" name="Shape 14"/>
          <p:cNvSpPr/>
          <p:nvPr/>
        </p:nvSpPr>
        <p:spPr>
          <a:xfrm>
            <a:off x="3911502" y="3134816"/>
            <a:ext cx="3301917" cy="12700"/>
          </a:xfrm>
          <a:prstGeom prst="rect">
            <a:avLst/>
          </a:prstGeom>
          <a:solidFill>
            <a:srgbClr val="2F3A42"/>
          </a:solidFill>
        </p:spPr>
      </p:sp>
      <p:sp>
        <p:nvSpPr>
          <p:cNvPr id="22" name="Shape 15"/>
          <p:cNvSpPr/>
          <p:nvPr/>
        </p:nvSpPr>
        <p:spPr>
          <a:xfrm>
            <a:off x="609585" y="4475758"/>
            <a:ext cx="6603835" cy="12700"/>
          </a:xfrm>
          <a:prstGeom prst="rect">
            <a:avLst/>
          </a:prstGeom>
          <a:solidFill>
            <a:srgbClr val="2F3A42"/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SKILL PROFICIENCY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9874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Employee Management REST API demonstrated the end-to-end outcome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040890"/>
            <a:ext cx="11582110" cy="2945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Stack: Spring Boot + JPA + MySQL + validation + JWT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09585" y="2507555"/>
          <a:ext cx="10972526" cy="2336245"/>
        </p:xfrm>
        <a:graphic>
          <a:graphicData uri="http://schemas.openxmlformats.org/drawingml/2006/table">
            <a:tbl>
              <a:tblPr/>
              <a:tblGrid>
                <a:gridCol w="7900195"/>
                <a:gridCol w="3072331"/>
              </a:tblGrid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CEAE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Skill area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CEAE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Proficiency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Core Java and OOP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Advanced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Collections / Streams, SQL, JDBC, Spring Boot, REST APIs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Proficient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Servlets, JPA, Testing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Working Knowledge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0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Spring Security / JWT, Deployment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BCC0C9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Basic Awareness</a:t>
                      </a:r>
                      <a:endParaRPr lang="en-US" sz="1600" dirty="0">
                        <a:latin typeface="Commissioner" pitchFamily="34" charset="0"/>
                        <a:ea typeface="Commissioner" pitchFamily="34" charset="0"/>
                        <a:cs typeface="Commissioner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11004550" y="6527165"/>
            <a:ext cx="1137920" cy="2616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A9AEB8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INTERNSHIP PROJECT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ECEAE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Simple Chat Application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35113"/>
            <a:ext cx="10972526" cy="20214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Purpose: a small chat system demonstrating client-server communication and message handling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Backend built with Java and Spring Boot, exposing REST endpoints for messages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Message flow uses REST requests (WebSocket considered for live updates)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User login authenticates each client before messages are accepted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Messages persisted in a relational database for history retrieval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Testing covered API endpoints, authentication, and persistence layers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3740745"/>
            <a:ext cx="3108843" cy="1494036"/>
          </a:xfrm>
          <a:prstGeom prst="rect">
            <a:avLst/>
          </a:prstGeom>
          <a:solidFill>
            <a:srgbClr val="E8A657"/>
          </a:solidFill>
        </p:spPr>
      </p:sp>
      <p:sp>
        <p:nvSpPr>
          <p:cNvPr id="6" name="Text 4"/>
          <p:cNvSpPr/>
          <p:nvPr/>
        </p:nvSpPr>
        <p:spPr>
          <a:xfrm>
            <a:off x="838179" y="3993951"/>
            <a:ext cx="2651654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Client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38179" y="4429085"/>
            <a:ext cx="2880248" cy="2945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Sends and reads messages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70823" y="3981887"/>
            <a:ext cx="1036314" cy="349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059434" y="3740745"/>
            <a:ext cx="3109041" cy="1494036"/>
          </a:xfrm>
          <a:prstGeom prst="rect">
            <a:avLst/>
          </a:prstGeom>
          <a:solidFill>
            <a:srgbClr val="E8A657"/>
          </a:solidFill>
        </p:spPr>
      </p:sp>
      <p:sp>
        <p:nvSpPr>
          <p:cNvPr id="10" name="Text 8"/>
          <p:cNvSpPr/>
          <p:nvPr/>
        </p:nvSpPr>
        <p:spPr>
          <a:xfrm>
            <a:off x="5288029" y="3993951"/>
            <a:ext cx="2651852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Server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288029" y="4429085"/>
            <a:ext cx="2651852" cy="5891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Spring Boot validates login and routes messages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0772" y="3981887"/>
            <a:ext cx="1036314" cy="349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BCC0C9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→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509383" y="3740745"/>
            <a:ext cx="2072727" cy="1494036"/>
          </a:xfrm>
          <a:prstGeom prst="rect">
            <a:avLst/>
          </a:prstGeom>
          <a:solidFill>
            <a:srgbClr val="E8A657"/>
          </a:solidFill>
        </p:spPr>
      </p:sp>
      <p:sp>
        <p:nvSpPr>
          <p:cNvPr id="14" name="Text 12"/>
          <p:cNvSpPr/>
          <p:nvPr/>
        </p:nvSpPr>
        <p:spPr>
          <a:xfrm>
            <a:off x="9737977" y="3993951"/>
            <a:ext cx="1615538" cy="301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Database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737977" y="4429085"/>
            <a:ext cx="1615538" cy="5891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Stores message history</a:t>
            </a:r>
            <a:endParaRPr lang="en-US" sz="1600" dirty="0"/>
          </a:p>
        </p:txBody>
      </p:sp>
      <p:sp>
        <p:nvSpPr>
          <p:cNvPr id="17" name="Rectangle 16"/>
          <p:cNvSpPr/>
          <p:nvPr/>
        </p:nvSpPr>
        <p:spPr>
          <a:xfrm>
            <a:off x="11004550" y="6527165"/>
            <a:ext cx="1137920" cy="2616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01763"/>
            <a:ext cx="11582110" cy="146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kern="100" spc="138" dirty="0">
                <a:solidFill>
                  <a:srgbClr val="FFFFFF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INTERNSHIP LEARNING NOW POINTS TOWARD DEEPER BACKEND ENGINEERING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1681670"/>
            <a:ext cx="8127797" cy="18225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600" kern="100" spc="-92" dirty="0">
                <a:solidFill>
                  <a:srgbClr val="FFFFFF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Internship learning now points toward deeper backend engineering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3648016"/>
            <a:ext cx="11582110" cy="349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Key learnings: technical skills, teamwork, time management, and professional workplace practices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4169470"/>
            <a:ext cx="10972526" cy="7733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Future learning: Spring Security in depth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Next step: microservices and cloud deployment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5139472"/>
            <a:ext cx="11582110" cy="349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Thank You · Q&amp;A</a:t>
            </a:r>
            <a:endParaRPr lang="en-US" sz="1900" dirty="0"/>
          </a:p>
        </p:txBody>
      </p:sp>
      <p:sp>
        <p:nvSpPr>
          <p:cNvPr id="8" name="Rectangle 7"/>
          <p:cNvSpPr/>
          <p:nvPr/>
        </p:nvSpPr>
        <p:spPr>
          <a:xfrm>
            <a:off x="10472420" y="6440170"/>
            <a:ext cx="1722120" cy="4178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0472420" y="6496050"/>
            <a:ext cx="17379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400"/>
              <a:t>By: Ah</a:t>
            </a:r>
            <a:r>
              <a:rPr lang="en-IN" altLang="en-US" sz="1400"/>
              <a:t>amed Noor Z</a:t>
            </a:r>
            <a:endParaRPr lang="en-IN" alt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3960</Words>
  <Application>WPS Presentation</Application>
  <PresentationFormat>On-screen Show (16:9)</PresentationFormat>
  <Paragraphs>241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SimSun</vt:lpstr>
      <vt:lpstr>Wingdings</vt:lpstr>
      <vt:lpstr>Mona Sans Light</vt:lpstr>
      <vt:lpstr>Mona Sans Light</vt:lpstr>
      <vt:lpstr>Commissioner</vt:lpstr>
      <vt:lpstr>Commissioner</vt:lpstr>
      <vt:lpstr>Reddit Mono Medium</vt:lpstr>
      <vt:lpstr>Reddit Mono Medium</vt:lpstr>
      <vt:lpstr>Mona Sans Medium</vt:lpstr>
      <vt:lpstr>Mona Sans Medium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ahame</cp:lastModifiedBy>
  <cp:revision>2</cp:revision>
  <dcterms:created xsi:type="dcterms:W3CDTF">2026-10-22T03:49:00Z</dcterms:created>
  <dcterms:modified xsi:type="dcterms:W3CDTF">2026-10-22T04:03:54Z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B87E43A7DB1743C1AB0757641262341F_12</vt:lpwstr>
  </property>
</Properties>
</file>